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8889"/>
                </a:solidFill>
                <a:latin typeface="Noto Sans TC"/>
              </a:rPr>
              <a:t>🎙️ aiSpeechMulti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600" b="1">
                <a:solidFill>
                  <a:srgbClr val="161A22"/>
                </a:solidFill>
                <a:latin typeface="Noto Sans TC"/>
              </a:rPr>
              <a:t>新手介面導覽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30 分鐘把 5 個面板點過一輪，找出版面配置的改善機會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7C8493"/>
                </a:solidFill>
                <a:latin typeface="Menlo"/>
              </a:rPr>
              <a:t>2026-05-19 · UI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五大面板</a:t>
            </a:r>
            <a:endParaRPr sz="3200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24857"/>
                </a:solidFill>
                <a:latin typeface="Noto Sans TC"/>
              </a:rPr>
              <a:t>每個面板對應一種使用場景與角色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651885"/>
              </p:ext>
            </p:extLst>
          </p:nvPr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7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頁面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用途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主要使用對象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🎤 </a:t>
                      </a:r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首頁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主要入口頁面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所有人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🎤 Capture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即時語音辨識（即時字幕</a:t>
                      </a:r>
                      <a:r>
                        <a:rPr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）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輪班人員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📺 Monitor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即時語音辨識監控（6 </a:t>
                      </a:r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通道</a:t>
                      </a:r>
                      <a:r>
                        <a:rPr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）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控制長、後台管理人員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🖥️ Display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即時語音關鍵字告警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輪班人員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🧪 Lab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語音檔案批次辨識、準確率評測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事件重建人員、歷史資料調閱者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📊 Grafana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系統運作監控（看趨勢、統計</a:t>
                      </a:r>
                      <a:r>
                        <a:rPr sz="20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）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後台管理人員</a:t>
                      </a:r>
                      <a:endParaRPr sz="20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8889"/>
                </a:solidFill>
                <a:latin typeface="Noto Sans TC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61A22"/>
                </a:solidFill>
                <a:latin typeface="Noto Sans TC"/>
              </a:rPr>
              <a:t>🎤 即時語音辨識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場景：現場有麥克風，要把講話內容即時辨識為字幕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Noto Sans TC"/>
              </a:rPr>
              <a:t>Capture · </a:t>
            </a:r>
            <a:r>
              <a:rPr sz="3200" b="1" dirty="0" err="1">
                <a:solidFill>
                  <a:srgbClr val="161A22"/>
                </a:solidFill>
                <a:latin typeface="Noto Sans TC"/>
              </a:rPr>
              <a:t>錄音端三大卡片</a:t>
            </a:r>
            <a:endParaRPr sz="3200" b="1" dirty="0">
              <a:solidFill>
                <a:srgbClr val="161A22"/>
              </a:solidFill>
              <a:latin typeface="Noto Sans TC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82015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6335" y="1965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60604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連線設定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335" y="3063240"/>
            <a:ext cx="301752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席位代號（ch1~ch6）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串流模式（dual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scribe_rt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…）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引擎（google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scribe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sensevoice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伺服器位址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[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開始監聽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]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按鈕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2767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087" y="1965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60604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音訊輸入裝置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7" y="3063240"/>
            <a:ext cx="30175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麥克風選擇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掃描裝置按鈕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即時音量條（dB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計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支援預設麥克風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
USB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BlackHole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等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3519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7839" y="1965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60604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音訊前處理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7839" y="3063240"/>
            <a:ext cx="30175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VAD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靜音過濾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（threshold 0.5</a:t>
            </a:r>
            <a:r>
              <a:rPr lang="en-US"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，避免沒有聲音也傳送到模式，圖耗算力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DeepFilterNet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降噪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（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建議無線電通訊環境開啟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7C8493"/>
                </a:solidFill>
                <a:latin typeface="Noto Sans TC"/>
              </a:rPr>
              <a:t>→ Mockup 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對應頁：testui-aispeech.netlify.app</a:t>
            </a:r>
            <a:r>
              <a:rPr b="0" dirty="0">
                <a:solidFill>
                  <a:srgbClr val="7C8493"/>
                </a:solidFill>
                <a:latin typeface="Noto Sans TC"/>
              </a:rPr>
              <a:t>/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capture.html</a:t>
            </a:r>
            <a:endParaRPr b="0" dirty="0">
              <a:solidFill>
                <a:srgbClr val="7C8493"/>
              </a:solidFill>
              <a:latin typeface="Noto Sans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5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 Capture</a:t>
            </a:r>
            <a:r>
              <a:rPr lang="zh-TW" altLang="en-US"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頁面點選順序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84728"/>
              </p:ext>
            </p:extLst>
          </p:nvPr>
        </p:nvGraphicFramePr>
        <p:xfrm>
          <a:off x="548640" y="146304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動作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對應操作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選你坐的位置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席位代號 dropdown → ch1~ch6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選辨識方式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串流模式 dropdown → 預設 dual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選辨識引擎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引擎 dropdown → 預設 google chirp_3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選麥克風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先按「掃描裝置」，再從 dropdown 挑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開始辨識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按「開始監聽</a:t>
                      </a:r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」（</a:t>
                      </a:r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變紅</a:t>
                      </a:r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 = </a:t>
                      </a:r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錄音中</a:t>
                      </a:r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）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424857"/>
                </a:solidFill>
                <a:latin typeface="Noto Sans TC"/>
              </a:rPr>
              <a:t>6 </a:t>
            </a:r>
            <a:r>
              <a:rPr sz="2000" b="0" dirty="0" err="1">
                <a:solidFill>
                  <a:srgbClr val="424857"/>
                </a:solidFill>
                <a:latin typeface="Noto Sans TC"/>
              </a:rPr>
              <a:t>個席位代號</a:t>
            </a:r>
            <a:r>
              <a:rPr sz="2000" b="0" dirty="0">
                <a:solidFill>
                  <a:srgbClr val="424857"/>
                </a:solidFill>
                <a:latin typeface="Noto Sans TC"/>
              </a:rPr>
              <a:t>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246888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1976A8"/>
                </a:solidFill>
                <a:latin typeface="Noto Sans TC"/>
              </a:rPr>
              <a:t>ch1 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93192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3FA8"/>
                </a:solidFill>
                <a:latin typeface="Noto Sans TC"/>
              </a:rPr>
              <a:t>ch2 MTC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39496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B8860B"/>
                </a:solidFill>
                <a:latin typeface="Noto Sans TC"/>
              </a:rPr>
              <a:t>ch3 DTC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85800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Noto Sans TC"/>
              </a:rPr>
              <a:t>ch4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32104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C62828"/>
                </a:solidFill>
                <a:latin typeface="Noto Sans TC"/>
              </a:rPr>
              <a:t>ch5 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9784080" y="5058192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D2691E"/>
                </a:solidFill>
                <a:latin typeface="Noto Sans TC"/>
              </a:rPr>
              <a:t>ch6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五種串流模式對比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預設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dual（兩階段確認）最穩，現場優先選擇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191789"/>
              </p:ext>
            </p:extLst>
          </p:nvPr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模式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延遲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來源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何時用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008889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dual ⭐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~150 ms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Scribe 即時 + Google 批次確認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預設、最穩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scribe_rt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~150 ms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純 ElevenLabs Scribe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想最快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google_stream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~500 ms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Google streaming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對照組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sensevoice_local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~1 s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本機離線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機密、無網路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batch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~15 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Google 批次（15 秒一段）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不在意即時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7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Monitor · 6 </a:t>
            </a:r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路即時辨識監看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3×2 grid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排列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·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每個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lane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內部左側上下分區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+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右側辨識文字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9436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486400" cy="2410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0" dirty="0">
                <a:solidFill>
                  <a:srgbClr val="7C8493"/>
                </a:solidFill>
                <a:latin typeface="Menlo"/>
              </a:rPr>
              <a:t>┌───────────</a:t>
            </a:r>
            <a:r>
              <a:rPr lang="zh-TW" altLang="en-US" sz="1200" dirty="0">
                <a:solidFill>
                  <a:srgbClr val="7C8493"/>
                </a:solidFill>
                <a:latin typeface="Menlo"/>
              </a:rPr>
              <a:t>──────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────┬───────────────────────</a:t>
            </a:r>
            <a:r>
              <a:rPr lang="zh-TW" altLang="en-US" sz="1200" dirty="0">
                <a:solidFill>
                  <a:srgbClr val="7C8493"/>
                </a:solidFill>
                <a:latin typeface="Menlo"/>
              </a:rPr>
              <a:t>───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───┐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161A22"/>
                </a:solidFill>
                <a:latin typeface="Menlo"/>
              </a:rPr>
              <a:t>│ ch1  CC          │ 10:23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列車進入月台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      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161A22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控制長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         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│ 10:24 OCC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收到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…     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C2143E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C2143E"/>
                </a:solidFill>
                <a:latin typeface="Menlo"/>
              </a:rPr>
              <a:t>scribe_rt+google</a:t>
            </a:r>
            <a:r>
              <a:rPr sz="1400" b="0" dirty="0">
                <a:solidFill>
                  <a:srgbClr val="C2143E"/>
                </a:solidFill>
                <a:latin typeface="Menlo"/>
              </a:rPr>
              <a:t> │ 10:24 ⚠️ </a:t>
            </a:r>
            <a:r>
              <a:rPr sz="1400" b="0" dirty="0" err="1">
                <a:solidFill>
                  <a:srgbClr val="C2143E"/>
                </a:solidFill>
                <a:latin typeface="Menlo"/>
              </a:rPr>
              <a:t>月台門故障</a:t>
            </a:r>
            <a:r>
              <a:rPr sz="1400" b="0" dirty="0">
                <a:solidFill>
                  <a:srgbClr val="C2143E"/>
                </a:solidFill>
                <a:latin typeface="Menlo"/>
              </a:rPr>
              <a:t>       │</a:t>
            </a:r>
          </a:p>
          <a:p>
            <a:pPr>
              <a:lnSpc>
                <a:spcPct val="105000"/>
              </a:lnSpc>
            </a:pPr>
            <a:r>
              <a:rPr sz="1200" b="0" dirty="0">
                <a:solidFill>
                  <a:srgbClr val="7C8493"/>
                </a:solidFill>
                <a:latin typeface="Menlo"/>
              </a:rPr>
              <a:t>│ ──────────────── </a:t>
            </a:r>
            <a:r>
              <a:rPr lang="en-US" sz="1200" b="0" dirty="0">
                <a:solidFill>
                  <a:srgbClr val="7C8493"/>
                </a:solidFill>
                <a:latin typeface="Menlo"/>
              </a:rPr>
              <a:t>   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│ 10:25 </a:t>
            </a:r>
            <a:r>
              <a:rPr sz="1200" b="0" dirty="0" err="1">
                <a:solidFill>
                  <a:srgbClr val="7C8493"/>
                </a:solidFill>
                <a:latin typeface="Menlo"/>
              </a:rPr>
              <a:t>確認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 G05 </a:t>
            </a:r>
            <a:r>
              <a:rPr sz="1200" b="0" dirty="0" err="1">
                <a:solidFill>
                  <a:srgbClr val="7C8493"/>
                </a:solidFill>
                <a:latin typeface="Menlo"/>
              </a:rPr>
              <a:t>已隔離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    </a:t>
            </a:r>
            <a:r>
              <a:rPr lang="en-US" sz="1200" b="0" dirty="0">
                <a:solidFill>
                  <a:srgbClr val="7C8493"/>
                </a:solidFill>
                <a:latin typeface="Menlo"/>
              </a:rPr>
              <a:t>    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161A22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筆數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184      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lang="zh-TW" altLang="en-US" sz="140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│                        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161A22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平均信心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89%    </a:t>
            </a:r>
            <a:r>
              <a:rPr lang="zh-TW" alt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lang="en-US" altLang="zh-TW" sz="1400" dirty="0">
                <a:solidFill>
                  <a:srgbClr val="161A22"/>
                </a:solidFill>
                <a:latin typeface="Menlo"/>
              </a:rPr>
              <a:t>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│                     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161A22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161A22"/>
                </a:solidFill>
                <a:latin typeface="Menlo"/>
              </a:rPr>
              <a:t>時長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31:08     </a:t>
            </a:r>
            <a:r>
              <a:rPr lang="en-US" sz="1400" b="0" dirty="0">
                <a:solidFill>
                  <a:srgbClr val="161A22"/>
                </a:solidFill>
                <a:latin typeface="Menlo"/>
              </a:rPr>
              <a:t> </a:t>
            </a:r>
            <a:r>
              <a:rPr sz="1400" b="0" dirty="0">
                <a:solidFill>
                  <a:srgbClr val="161A22"/>
                </a:solidFill>
                <a:latin typeface="Menlo"/>
              </a:rPr>
              <a:t>  │                         │</a:t>
            </a:r>
          </a:p>
          <a:p>
            <a:pPr>
              <a:lnSpc>
                <a:spcPct val="105000"/>
              </a:lnSpc>
            </a:pPr>
            <a:r>
              <a:rPr sz="1400" b="0" dirty="0">
                <a:solidFill>
                  <a:srgbClr val="424857"/>
                </a:solidFill>
                <a:latin typeface="Menlo"/>
              </a:rPr>
              <a:t>│ </a:t>
            </a:r>
            <a:r>
              <a:rPr sz="1400" b="0" dirty="0" err="1">
                <a:solidFill>
                  <a:srgbClr val="424857"/>
                </a:solidFill>
                <a:latin typeface="Menlo"/>
              </a:rPr>
              <a:t>無錯字回報</a:t>
            </a:r>
            <a:r>
              <a:rPr sz="1400" b="0" dirty="0">
                <a:solidFill>
                  <a:srgbClr val="424857"/>
                </a:solidFill>
                <a:latin typeface="Menlo"/>
              </a:rPr>
              <a:t>       </a:t>
            </a:r>
            <a:r>
              <a:rPr lang="en-US" sz="1400" b="0" dirty="0">
                <a:solidFill>
                  <a:srgbClr val="424857"/>
                </a:solidFill>
                <a:latin typeface="Menlo"/>
              </a:rPr>
              <a:t>  </a:t>
            </a:r>
            <a:r>
              <a:rPr sz="1400" b="0" dirty="0">
                <a:solidFill>
                  <a:srgbClr val="424857"/>
                </a:solidFill>
                <a:latin typeface="Menlo"/>
              </a:rPr>
              <a:t>│                         │</a:t>
            </a:r>
          </a:p>
          <a:p>
            <a:pPr>
              <a:lnSpc>
                <a:spcPct val="105000"/>
              </a:lnSpc>
            </a:pPr>
            <a:r>
              <a:rPr sz="1200" b="0" dirty="0">
                <a:solidFill>
                  <a:srgbClr val="7C8493"/>
                </a:solidFill>
                <a:latin typeface="Menlo"/>
              </a:rPr>
              <a:t>└──────────────────</a:t>
            </a:r>
            <a:r>
              <a:rPr lang="zh-TW" altLang="en-US" sz="1200" dirty="0">
                <a:solidFill>
                  <a:srgbClr val="7C8493"/>
                </a:solidFill>
                <a:latin typeface="Menlo"/>
              </a:rPr>
              <a:t>───</a:t>
            </a:r>
            <a:r>
              <a:rPr sz="1200" b="0">
                <a:solidFill>
                  <a:srgbClr val="7C8493"/>
                </a:solidFill>
                <a:latin typeface="Menlo"/>
              </a:rPr>
              <a:t>┴──────────────────────</a:t>
            </a:r>
            <a:r>
              <a:rPr lang="zh-TW" altLang="en-US" sz="1200" dirty="0">
                <a:solidFill>
                  <a:srgbClr val="7C8493"/>
                </a:solidFill>
                <a:latin typeface="Menlo"/>
              </a:rPr>
              <a:t>─────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──┘</a:t>
            </a:r>
          </a:p>
          <a:p>
            <a:pPr>
              <a:lnSpc>
                <a:spcPct val="105000"/>
              </a:lnSpc>
            </a:pPr>
            <a:r>
              <a:rPr sz="1200" b="0" dirty="0">
                <a:solidFill>
                  <a:srgbClr val="7C8493"/>
                </a:solidFill>
                <a:latin typeface="Menlo"/>
              </a:rPr>
              <a:t>    </a:t>
            </a:r>
            <a:r>
              <a:rPr sz="1200" b="0" dirty="0" err="1">
                <a:solidFill>
                  <a:srgbClr val="7C8493"/>
                </a:solidFill>
                <a:latin typeface="Menlo"/>
              </a:rPr>
              <a:t>左側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 180px              </a:t>
            </a:r>
            <a:r>
              <a:rPr sz="1200" b="0" dirty="0" err="1">
                <a:solidFill>
                  <a:srgbClr val="7C8493"/>
                </a:solidFill>
                <a:latin typeface="Menlo"/>
              </a:rPr>
              <a:t>右側</a:t>
            </a:r>
            <a:r>
              <a:rPr sz="1200" b="0" dirty="0">
                <a:solidFill>
                  <a:srgbClr val="7C8493"/>
                </a:solidFill>
                <a:latin typeface="Menlo"/>
              </a:rPr>
              <a:t> 1fr（主區）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37360"/>
            <a:ext cx="4846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008889"/>
                </a:solidFill>
                <a:latin typeface="Noto Sans TC"/>
              </a:rPr>
              <a:t>💰 </a:t>
            </a:r>
            <a:r>
              <a:rPr sz="2000" b="1" dirty="0" err="1">
                <a:solidFill>
                  <a:srgbClr val="008889"/>
                </a:solidFill>
                <a:latin typeface="Noto Sans TC"/>
              </a:rPr>
              <a:t>頂部</a:t>
            </a:r>
            <a:r>
              <a:rPr sz="2000" b="1" dirty="0">
                <a:solidFill>
                  <a:srgbClr val="008889"/>
                </a:solidFill>
                <a:latin typeface="Noto Sans TC"/>
              </a:rPr>
              <a:t> status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2860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今日</a:t>
            </a:r>
            <a:r>
              <a:rPr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NT$ 87.42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7432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session NT$ 12.18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004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預算</a:t>
            </a:r>
            <a:r>
              <a:rPr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68% / NT$ 130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576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5/6 </a:t>
            </a:r>
            <a:r>
              <a:rPr dirty="0" err="1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席位活動中</a:t>
            </a:r>
            <a:endParaRPr dirty="0">
              <a:solidFill>
                <a:srgbClr val="161A22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160" y="41148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4572000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▼ </a:t>
            </a:r>
            <a:r>
              <a:rPr sz="2000" dirty="0" err="1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展開可看每席</a:t>
            </a:r>
            <a:r>
              <a:rPr sz="2000" dirty="0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× </a:t>
            </a:r>
            <a:r>
              <a:rPr sz="2000" dirty="0" err="1">
                <a:solidFill>
                  <a:srgbClr val="161A22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引擎細項</a:t>
            </a:r>
            <a:endParaRPr sz="2000" dirty="0">
              <a:solidFill>
                <a:srgbClr val="161A22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7C8493"/>
                </a:solidFill>
                <a:latin typeface="Noto Sans TC"/>
              </a:rPr>
              <a:t>→ Mockup 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對應頁：testui-aispeech.netlify.app</a:t>
            </a:r>
            <a:r>
              <a:rPr b="0" dirty="0">
                <a:solidFill>
                  <a:srgbClr val="7C8493"/>
                </a:solidFill>
                <a:latin typeface="Noto Sans TC"/>
              </a:rPr>
              <a:t>/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monitor.html</a:t>
            </a:r>
            <a:endParaRPr b="0" dirty="0">
              <a:solidFill>
                <a:srgbClr val="7C8493"/>
              </a:solidFill>
              <a:latin typeface="Noto Sans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8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Display · </a:t>
            </a:r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控制室大螢幕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424857"/>
                </a:solidFill>
                <a:latin typeface="Noto Sans TC"/>
              </a:rPr>
              <a:t>5 </a:t>
            </a:r>
            <a:r>
              <a:rPr b="0" dirty="0" err="1">
                <a:solidFill>
                  <a:srgbClr val="424857"/>
                </a:solidFill>
                <a:latin typeface="Noto Sans TC"/>
              </a:rPr>
              <a:t>公尺外可讀</a:t>
            </a:r>
            <a:r>
              <a:rPr b="0" dirty="0">
                <a:solidFill>
                  <a:srgbClr val="424857"/>
                </a:solidFill>
                <a:latin typeface="Noto Sans TC"/>
              </a:rPr>
              <a:t> · </a:t>
            </a:r>
            <a:r>
              <a:rPr b="0" dirty="0" err="1">
                <a:solidFill>
                  <a:srgbClr val="424857"/>
                </a:solidFill>
                <a:latin typeface="Noto Sans TC"/>
              </a:rPr>
              <a:t>關鍵字依告警等級放大變色</a:t>
            </a:r>
            <a:endParaRPr b="0" dirty="0">
              <a:solidFill>
                <a:srgbClr val="424857"/>
              </a:solidFill>
              <a:latin typeface="Noto Sans TC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367473"/>
              </p:ext>
            </p:extLst>
          </p:nvPr>
        </p:nvGraphicFramePr>
        <p:xfrm>
          <a:off x="548640" y="18288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等級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視覺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範例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E7C47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普通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列車進入月台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A36B00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L1-L2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變色文字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請查證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A36B00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L3-L4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放大 1.5× + 變色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月台門故障 / 緊急停車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C2143E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L5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放大 + 描邊 + 閃爍 banner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軌道異物</a:t>
                      </a:r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 / </a:t>
                      </a:r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列車衝撞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7C8493"/>
                </a:solidFill>
                <a:latin typeface="Noto Sans TC"/>
              </a:rPr>
              <a:t>→ Mockup 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對應頁：testui-aispeech.netlify.app</a:t>
            </a:r>
            <a:r>
              <a:rPr b="0" dirty="0">
                <a:solidFill>
                  <a:srgbClr val="7C8493"/>
                </a:solidFill>
                <a:latin typeface="Noto Sans TC"/>
              </a:rPr>
              <a:t>/</a:t>
            </a:r>
            <a:r>
              <a:rPr b="0" dirty="0" err="1">
                <a:solidFill>
                  <a:srgbClr val="7C8493"/>
                </a:solidFill>
                <a:latin typeface="Noto Sans TC"/>
              </a:rPr>
              <a:t>display.html</a:t>
            </a:r>
            <a:endParaRPr b="0" dirty="0">
              <a:solidFill>
                <a:srgbClr val="7C8493"/>
              </a:solidFill>
              <a:latin typeface="Noto Sans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9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8889"/>
                </a:solidFill>
                <a:latin typeface="Noto Sans T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61A22"/>
                </a:solidFill>
                <a:latin typeface="Noto Sans TC"/>
              </a:rPr>
              <a:t>📁 語音檔案辨識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場景：拿一段錄音，要看辨識結果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Lab speech · </a:t>
            </a:r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五步驟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上傳音檔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選引擎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跑辨識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看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raw vs 4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階段後處理結果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6417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417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選模型類別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10341"/>
            <a:ext cx="7589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google_stt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sensevoice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sensevoice_ft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⭐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gemini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78713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8713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選子模型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33301"/>
            <a:ext cx="7589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chirp_3 / chirp_3_hans / gemini-2.5-pro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等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61009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009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上傳音檔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656260"/>
            <a:ext cx="7589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拖拉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wav / mp3 / m4a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flac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ogg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aac（最多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50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個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443305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3305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詞彙表設定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479220"/>
            <a:ext cx="7589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啟用詞彙加權（三層架構：PhraseSet / term_filter / correction_dict）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25601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601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音訊前處理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302180"/>
            <a:ext cx="7589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VAD 靜音過濾 / DeepFilterNet 降噪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→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按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「🚀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開始辨識」後顯示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raw + 4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階段後處理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+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信心度色塊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+ ✏️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修正按鈕</a:t>
            </a:r>
            <a:endParaRPr dirty="0">
              <a:solidFill>
                <a:srgbClr val="7C8493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11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8889"/>
                </a:solidFill>
                <a:latin typeface="Noto Sans TC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61A22"/>
                </a:solidFill>
                <a:latin typeface="Noto Sans TC"/>
              </a:rPr>
              <a:t>📚 詞彙庫 + 告警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建立關鍵字 → 後處理修正 + 告警等級觸發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Lab vocabulary · </a:t>
            </a:r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三大區塊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82015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6335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56032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篩選列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335" y="3017520"/>
            <a:ext cx="301752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搜尋術語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類別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dropdown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告警等級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dropdown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三條件交叉篩選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2767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087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56032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編輯表格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7" y="3017520"/>
            <a:ext cx="30175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Excel-like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即時編輯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term / category / boost
alert / pinyin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common_error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3519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7839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56032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新增表單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7839" y="3017520"/>
            <a:ext cx="30175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新增單筆詞條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必填：術語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選填：其他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6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欄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按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✅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新增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三層架構：term_filter.json（基底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 + engines/{engine}.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json（覆寫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 +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contextual_corrections.json（前後文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13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告警等級對應表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alert_level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0~5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控制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display / monitor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兩種介面的視覺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897468"/>
              </p:ext>
            </p:extLst>
          </p:nvPr>
        </p:nvGraphicFramePr>
        <p:xfrm>
          <a:off x="548640" y="18288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等級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意義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Display 視覺</a:t>
                      </a: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Monitor </a:t>
                      </a:r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視覺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E7C47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正常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普通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普通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A36B00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L1-L2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注意 / 警示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變色文字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變色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A36B00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L3-L4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危險 / 緊急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放大 1.5× + 變色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背景變色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C2143E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L5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災難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放大 + 描邊 + 閃爍 banner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背景變紅</a:t>
                      </a:r>
                      <a:endParaRPr sz="1800" b="0" i="0" dirty="0">
                        <a:solidFill>
                          <a:srgbClr val="161A22"/>
                        </a:solidFill>
                        <a:latin typeface="Heiti SC Light" panose="02000000000000000000" pitchFamily="2" charset="-128"/>
                        <a:ea typeface="Heiti SC Light" panose="02000000000000000000" pitchFamily="2" charset="-128"/>
                      </a:endParaRP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告警散在三處：display.html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視覺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monitor.html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背景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Grafana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統計區塊</a:t>
            </a:r>
            <a:endParaRPr dirty="0">
              <a:solidFill>
                <a:srgbClr val="7C8493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14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8889"/>
                </a:solidFill>
                <a:latin typeface="Noto Sans TC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61A22"/>
                </a:solidFill>
                <a:latin typeface="Noto Sans TC"/>
              </a:rPr>
              <a:t>📊 CER 評測 + 歷史查詢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量化辨識準確率 · 三種方式翻查歷史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Lab evaluation · CER </a:t>
            </a:r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四步驟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Character Error </a:t>
            </a:r>
            <a:r>
              <a:rPr b="0" dirty="0" err="1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Rate（字錯誤率</a:t>
            </a:r>
            <a:r>
              <a:rPr b="0" dirty="0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）— 越低越準（0% </a:t>
            </a:r>
            <a:r>
              <a:rPr b="0" dirty="0" err="1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完美</a:t>
            </a:r>
            <a:r>
              <a:rPr b="0" dirty="0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/ 100% </a:t>
            </a:r>
            <a:r>
              <a:rPr b="0" dirty="0" err="1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全錯</a:t>
            </a:r>
            <a:r>
              <a:rPr b="0" dirty="0">
                <a:solidFill>
                  <a:srgbClr val="42485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7273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2734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選評測案例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1890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頂部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dropdown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挑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experiments/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子目錄（或新建案例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64997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49974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上傳音檔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614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拖到 source_audio/ 上傳區（.wav / .mp3 / .m4a）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42721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7214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上傳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7338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.txt 或 .csv 拖到 ground_truth/ 上傳區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08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4204454"/>
            <a:ext cx="640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6F7F9"/>
                </a:solidFill>
                <a:latin typeface="HEITI SC MEDIUM" pitchFamily="2" charset="-128"/>
                <a:ea typeface="HEITI SC MEDIUM" pitchFamily="2" charset="-128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4454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上傳 ASR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062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辨識結果拖到 asr_output/ → 按「開始評測」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16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Noto Sans TC"/>
              </a:rPr>
              <a:t>三種查詢歷史方式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2015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6335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560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08889"/>
                </a:solidFill>
                <a:latin typeface="Noto Sans TC"/>
              </a:rPr>
              <a:t>Lab </a:t>
            </a:r>
            <a:r>
              <a:rPr sz="2400" b="1" dirty="0" err="1">
                <a:solidFill>
                  <a:srgbClr val="008889"/>
                </a:solidFill>
                <a:latin typeface="Noto Sans TC"/>
              </a:rPr>
              <a:t>全文搜尋</a:t>
            </a:r>
            <a:endParaRPr sz="2400" b="1" dirty="0">
              <a:solidFill>
                <a:srgbClr val="008889"/>
              </a:solidFill>
              <a:latin typeface="Noto Sans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335" y="3017520"/>
            <a:ext cx="3017520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輸入字串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（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疏散、月台門故障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…）
≥3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字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FTS5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索引（快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
&lt;3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字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LIKE（慢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）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可設最多筆數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2767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087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🗂️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56032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Lab </a:t>
            </a:r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事件管理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7" y="3017520"/>
            <a:ext cx="3017520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挑事件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看辨識結果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改危害等級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寫備注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修正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transcript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文字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修正會自動進飛輪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→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下次更準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3519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7839" y="1920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61A22"/>
                </a:solidFill>
                <a:latin typeface="Noto Sans TC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560320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Grafana </a:t>
            </a:r>
            <a:r>
              <a:rPr sz="2400" b="1"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趨勢</a:t>
            </a:r>
            <a:endParaRPr sz="2400" b="1"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7839" y="3017520"/>
            <a:ext cx="30175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7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大區塊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· 25 panels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整體統計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量趨勢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各引擎成功率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危害分布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Top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關鍵字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
CER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趨勢圖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→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Mockup：lab.html#search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lab.html#management</a:t>
            </a:r>
            <a:r>
              <a:rPr dirty="0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/ </a:t>
            </a:r>
            <a:r>
              <a:rPr dirty="0" err="1">
                <a:solidFill>
                  <a:srgbClr val="7C8493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grafana.html</a:t>
            </a:r>
            <a:endParaRPr dirty="0">
              <a:solidFill>
                <a:srgbClr val="7C8493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17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8889"/>
                </a:solidFill>
                <a:latin typeface="Noto Sans TC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61A22"/>
                </a:solidFill>
                <a:latin typeface="Noto Sans TC"/>
              </a:rPr>
              <a:t>🎨 主題切換 + 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三種主題對應不同班別 · 跨頁設定持久化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三主題切換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右上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🌙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按鈕循環切換，記在瀏覽器</a:t>
            </a:r>
            <a:r>
              <a:rPr dirty="0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dirty="0" err="1">
                <a:solidFill>
                  <a:srgbClr val="424857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localStorage</a:t>
            </a:r>
            <a:endParaRPr dirty="0">
              <a:solidFill>
                <a:srgbClr val="424857"/>
              </a:solidFill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263307"/>
              </p:ext>
            </p:extLst>
          </p:nvPr>
        </p:nvGraphicFramePr>
        <p:xfrm>
          <a:off x="548640" y="182880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主題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按鈕</a:t>
                      </a: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用途</a:t>
                      </a: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i="0" dirty="0" err="1">
                          <a:solidFill>
                            <a:srgbClr val="424857"/>
                          </a:solidFill>
                          <a:latin typeface="Heiti SC Medium" pitchFamily="2" charset="-128"/>
                          <a:ea typeface="Heiti SC Medium" pitchFamily="2" charset="-128"/>
                        </a:rPr>
                        <a:t>色調</a:t>
                      </a:r>
                      <a:endParaRPr sz="2400" b="0" i="0" dirty="0">
                        <a:solidFill>
                          <a:srgbClr val="424857"/>
                        </a:solidFill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109728" marR="109728" marT="54864" marB="54864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dark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🌙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日班 / 預設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冷調 cool teal #3fbdc7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light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☀️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白班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純白底 + 深 teal</a:t>
                      </a:r>
                    </a:p>
                  </a:txBody>
                  <a:tcPr marL="109728" marR="109728" marT="73152" marB="73152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dark-warm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🔥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夜班低藍光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 err="1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琥珀暖色</a:t>
                      </a:r>
                      <a:r>
                        <a:rPr sz="1800" b="0" i="0" dirty="0">
                          <a:solidFill>
                            <a:srgbClr val="161A22"/>
                          </a:solidFill>
                          <a:latin typeface="Heiti SC Light" panose="02000000000000000000" pitchFamily="2" charset="-128"/>
                          <a:ea typeface="Heiti SC Light" panose="02000000000000000000" pitchFamily="2" charset="-128"/>
                        </a:rPr>
                        <a:t> + warm cream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dirty="0" err="1">
                <a:solidFill>
                  <a:srgbClr val="008889"/>
                </a:solidFill>
                <a:latin typeface="Menlo"/>
              </a:rPr>
              <a:t>循環順序：dark</a:t>
            </a:r>
            <a:r>
              <a:rPr b="1" dirty="0">
                <a:solidFill>
                  <a:srgbClr val="008889"/>
                </a:solidFill>
                <a:latin typeface="Menlo"/>
              </a:rPr>
              <a:t> → light → dark-warm → dark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19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回饋格式</a:t>
            </a:r>
            <a:r>
              <a:rPr lang="zh-TW" altLang="en-US" sz="3200" b="1"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參考</a:t>
            </a:r>
            <a:endParaRPr sz="3200" b="1"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 err="1">
                <a:solidFill>
                  <a:srgbClr val="424857"/>
                </a:solidFill>
                <a:latin typeface="Noto Sans TC"/>
              </a:rPr>
              <a:t>走完一輪後，請依此格式紀錄你發現的改善點</a:t>
            </a:r>
            <a:endParaRPr b="0" dirty="0">
              <a:solidFill>
                <a:srgbClr val="424857"/>
              </a:solidFill>
              <a:latin typeface="Noto Sans T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18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4116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### 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介面</a:t>
            </a: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：{capture / monitor / display / Lab-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哪一頁</a:t>
            </a: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 / Grafana}</a:t>
            </a:r>
          </a:p>
          <a:p>
            <a:pPr>
              <a:lnSpc>
                <a:spcPct val="115000"/>
              </a:lnSpc>
            </a:pPr>
            <a:endParaRPr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### 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我覺得不直覺的地方</a:t>
            </a:r>
            <a:endParaRPr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-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例：席位代號的</a:t>
            </a: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 dropdown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文字太小</a:t>
            </a: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### 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我建議的改法</a:t>
            </a:r>
            <a:endParaRPr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-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例：放大字體並改成卡片式按鈕</a:t>
            </a: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### 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我為什麼這樣建議</a:t>
            </a:r>
            <a:endParaRPr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-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例：操作員會在低光環境下使用，dropdown</a:t>
            </a: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點選費神</a:t>
            </a: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### </a:t>
            </a:r>
            <a:r>
              <a:rPr dirty="0" err="1">
                <a:solidFill>
                  <a:srgbClr val="008889"/>
                </a:solidFill>
                <a:latin typeface="Heiti SC Medium" pitchFamily="2" charset="-128"/>
                <a:ea typeface="Heiti SC Medium" pitchFamily="2" charset="-128"/>
              </a:rPr>
              <a:t>嚴重度</a:t>
            </a:r>
            <a:endParaRPr dirty="0">
              <a:solidFill>
                <a:srgbClr val="008889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15000"/>
              </a:lnSpc>
            </a:pP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-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高</a:t>
            </a: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 /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中</a:t>
            </a:r>
            <a:r>
              <a:rPr dirty="0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 / </a:t>
            </a:r>
            <a:r>
              <a:rPr dirty="0" err="1">
                <a:solidFill>
                  <a:srgbClr val="161A22"/>
                </a:solidFill>
                <a:latin typeface="Heiti SC Medium" pitchFamily="2" charset="-128"/>
                <a:ea typeface="Heiti SC Medium" pitchFamily="2" charset="-128"/>
              </a:rPr>
              <a:t>低</a:t>
            </a:r>
            <a:endParaRPr dirty="0">
              <a:solidFill>
                <a:srgbClr val="161A22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C8493"/>
                </a:solidFill>
                <a:latin typeface="Menlo"/>
              </a:rPr>
              <a:t>20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6304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600" b="1">
                <a:solidFill>
                  <a:srgbClr val="161A22"/>
                </a:solidFill>
                <a:latin typeface="Noto Sans TC"/>
              </a:rPr>
              <a:t>謝謝！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24857"/>
                </a:solidFill>
                <a:latin typeface="Noto Sans TC"/>
              </a:rPr>
              <a:t>請開始嘗試介面，並把回饋整理出來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8167" y="402336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98167" y="4297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24857"/>
                </a:solidFill>
                <a:latin typeface="Noto Sans TC"/>
              </a:rPr>
              <a:t>🌐 Mockup 公網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167" y="4846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8889"/>
                </a:solidFill>
                <a:latin typeface="Menlo"/>
              </a:rPr>
              <a:t>testui-aispeech.netlify.app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53949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24857"/>
                </a:solidFill>
                <a:latin typeface="Noto Sans TC"/>
              </a:rPr>
              <a:t>8 頁可互點介面預覽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1083</Words>
  <Application>Microsoft Macintosh PowerPoint</Application>
  <PresentationFormat>寬螢幕</PresentationFormat>
  <Paragraphs>266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Microsoft JhengHei</vt:lpstr>
      <vt:lpstr>Heiti SC Light</vt:lpstr>
      <vt:lpstr>Heiti SC Medium</vt:lpstr>
      <vt:lpstr>Heiti SC Medium</vt:lpstr>
      <vt:lpstr>Noto Sans TC</vt:lpstr>
      <vt:lpstr>Arial</vt:lpstr>
      <vt:lpstr>Calibri</vt:lpstr>
      <vt:lpstr>Menlo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志霖 姚</cp:lastModifiedBy>
  <cp:revision>12</cp:revision>
  <dcterms:created xsi:type="dcterms:W3CDTF">2013-01-27T09:14:16Z</dcterms:created>
  <dcterms:modified xsi:type="dcterms:W3CDTF">2026-05-19T02:10:33Z</dcterms:modified>
  <cp:category/>
</cp:coreProperties>
</file>