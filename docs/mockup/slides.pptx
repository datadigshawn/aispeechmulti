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FBDC7"/>
                </a:solidFill>
                <a:latin typeface="Noto Sans TC"/>
              </a:rPr>
              <a:t>🎙️ aiSpeechMulti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E6E9EF"/>
                </a:solidFill>
                <a:latin typeface="Noto Sans TC"/>
              </a:rPr>
              <a:t>新手介面導覽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30 分鐘把 5 個面板點過一輪，找出版面配置的改善機會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A7180"/>
                </a:solidFill>
                <a:latin typeface="Menlo"/>
              </a:rPr>
              <a:t>2026-05-19 · UI feedback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五大面板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每個面板對應一種使用場景與角色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429768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頁面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用途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主要使用對象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E9EF"/>
                          </a:solidFill>
                          <a:latin typeface="Noto Sans TC"/>
                        </a:rPr>
                        <a:t>🎤 首頁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主要入口頁面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所有人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E9EF"/>
                          </a:solidFill>
                          <a:latin typeface="Noto Sans TC"/>
                        </a:rPr>
                        <a:t>🎤 Capture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即時語音辨識（即時字幕）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開播人員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E9EF"/>
                          </a:solidFill>
                          <a:latin typeface="Noto Sans TC"/>
                        </a:rPr>
                        <a:t>📺 Monitor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即時語音辨識監控（6 通道）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控制長、後台管理人員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E9EF"/>
                          </a:solidFill>
                          <a:latin typeface="Noto Sans TC"/>
                        </a:rPr>
                        <a:t>🖥️ Display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即時語音關鍵字告警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開播人員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E9EF"/>
                          </a:solidFill>
                          <a:latin typeface="Noto Sans TC"/>
                        </a:rPr>
                        <a:t>🧪 Lab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語音檔案批次辨識、準確率評測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事件重建人員、歷史資料調閱者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E9EF"/>
                          </a:solidFill>
                          <a:latin typeface="Noto Sans TC"/>
                        </a:rPr>
                        <a:t>📊 Grafana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系統運作監控（看趨勢、統計）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後台管理人員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30 分鐘動線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建議按此順序體驗，每階段約 5–10 分鐘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737360"/>
            <a:ext cx="8503920" cy="44805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2011680"/>
            <a:ext cx="7315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E6E9EF"/>
                </a:solidFill>
                <a:latin typeface="Noto Sans TC"/>
              </a:rPr>
              <a:t>1. 啟動服務</a:t>
            </a:r>
          </a:p>
          <a:p>
            <a:pPr>
              <a:lnSpc>
                <a:spcPct val="110000"/>
              </a:lnSpc>
            </a:pPr>
            <a:r>
              <a:rPr sz="1300" b="0">
                <a:solidFill>
                  <a:srgbClr val="6A7180"/>
                </a:solidFill>
                <a:latin typeface="Menlo"/>
              </a:rPr>
              <a:t>    (5 min)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9AA3B3"/>
                </a:solidFill>
                <a:latin typeface="Menlo"/>
              </a:rPr>
              <a:t>        ↓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E6E9EF"/>
                </a:solidFill>
                <a:latin typeface="Noto Sans TC"/>
              </a:rPr>
              <a:t>2. :8000 看 landing → Capture / Monitor / Display</a:t>
            </a:r>
          </a:p>
          <a:p>
            <a:pPr>
              <a:lnSpc>
                <a:spcPct val="110000"/>
              </a:lnSpc>
            </a:pPr>
            <a:r>
              <a:rPr sz="1300" b="0">
                <a:solidFill>
                  <a:srgbClr val="6A7180"/>
                </a:solidFill>
                <a:latin typeface="Menlo"/>
              </a:rPr>
              <a:t>    (5 min)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9AA3B3"/>
                </a:solidFill>
                <a:latin typeface="Menlo"/>
              </a:rPr>
              <a:t>        ↓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E6E9EF"/>
                </a:solidFill>
                <a:latin typeface="Noto Sans TC"/>
              </a:rPr>
              <a:t>3. :8501 Lab → 9 個分頁各 30 秒</a:t>
            </a:r>
          </a:p>
          <a:p>
            <a:pPr>
              <a:lnSpc>
                <a:spcPct val="110000"/>
              </a:lnSpc>
            </a:pPr>
            <a:r>
              <a:rPr sz="1300" b="0">
                <a:solidFill>
                  <a:srgbClr val="6A7180"/>
                </a:solidFill>
                <a:latin typeface="Menlo"/>
              </a:rPr>
              <a:t>    (10 min)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9AA3B3"/>
                </a:solidFill>
                <a:latin typeface="Menlo"/>
              </a:rPr>
              <a:t>        ↓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E6E9EF"/>
                </a:solidFill>
                <a:latin typeface="Noto Sans TC"/>
              </a:rPr>
              <a:t>4. :3000 Grafana → 滑過 7 大區塊</a:t>
            </a:r>
          </a:p>
          <a:p>
            <a:pPr>
              <a:lnSpc>
                <a:spcPct val="110000"/>
              </a:lnSpc>
            </a:pPr>
            <a:r>
              <a:rPr sz="1300" b="0">
                <a:solidFill>
                  <a:srgbClr val="6A7180"/>
                </a:solidFill>
                <a:latin typeface="Menlo"/>
              </a:rPr>
              <a:t>    (5 min)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9AA3B3"/>
                </a:solidFill>
                <a:latin typeface="Menlo"/>
              </a:rPr>
              <a:t>        ↓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E6E9EF"/>
                </a:solidFill>
                <a:latin typeface="Noto Sans TC"/>
              </a:rPr>
              <a:t>5. 完整跑一輪：上傳音檔 → 查歷史 → 加一個關鍵字</a:t>
            </a:r>
          </a:p>
          <a:p>
            <a:pPr>
              <a:lnSpc>
                <a:spcPct val="110000"/>
              </a:lnSpc>
            </a:pPr>
            <a:r>
              <a:rPr sz="1300" b="0">
                <a:solidFill>
                  <a:srgbClr val="6A7180"/>
                </a:solidFill>
                <a:latin typeface="Menlo"/>
              </a:rPr>
              <a:t>    (5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FBDC7"/>
                </a:solidFill>
                <a:latin typeface="Noto Sans TC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E6E9EF"/>
                </a:solidFill>
                <a:latin typeface="Noto Sans TC"/>
              </a:rPr>
              <a:t>🎤 即時語音辨識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場景：現場有麥克風，要把講話內容即時辨識為字幕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Capture · 錄音端三大卡片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2015" y="169164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6335" y="19659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6335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連線設定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6335" y="3063240"/>
            <a:ext cx="3017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席位代號（ch1~ch6）
串流模式（dual / scribe_rt …）
引擎（google / scribe / sensevoice）
伺服器位址
[ 開始監聽 ] 按鈕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169164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9659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音訊輸入裝置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7" y="3063240"/>
            <a:ext cx="3017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麥克風選擇
掃描裝置按鈕
即時音量條（dB 計）
支援預設麥克風 /
USB / BlackHole 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3519" y="169164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7839" y="19659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7839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音訊前處理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7839" y="3063240"/>
            <a:ext cx="3017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VAD 靜音過濾
（threshold 0.5）
DeepFilterNet 降噪
（建議無線電通訊環境開啟）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→ Mockup 對應頁：testui-aispeech.netlify.app/capture.html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怎麼點選 Capture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91272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動作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對應操作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選你坐的位置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席位代號 dropdown → ch1~ch6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選辨識方式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串流模式 dropdown → 預設 dual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選辨識引擎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引擎 dropdown → 預設 google chirp_3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選麥克風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先按「掃描裝置」，再從 dropdown 挑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開始辨識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按「開始監聽」（變紅 = 錄音中）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6 個席位代號：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49834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FB3D4"/>
                </a:solidFill>
                <a:latin typeface="Noto Sans TC"/>
              </a:rPr>
              <a:t>ch1 CC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49834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97CDF"/>
                </a:solidFill>
                <a:latin typeface="Noto Sans TC"/>
              </a:rPr>
              <a:t>ch2 MTC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49834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CB858"/>
                </a:solidFill>
                <a:latin typeface="Noto Sans TC"/>
              </a:rPr>
              <a:t>ch3 DTC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9834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FD49A"/>
                </a:solidFill>
                <a:latin typeface="Noto Sans TC"/>
              </a:rPr>
              <a:t>ch4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9834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Noto Sans TC"/>
              </a:rPr>
              <a:t>ch5 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498348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49834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AA66"/>
                </a:solidFill>
                <a:latin typeface="Noto Sans TC"/>
              </a:rPr>
              <a:t>ch6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五種串流模式對比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預設 dual（兩階段確認）最穩，現場優先選擇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4572000"/>
                <a:gridCol w="2770632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模式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延遲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來源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何時用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FBDC7"/>
                          </a:solidFill>
                          <a:latin typeface="Noto Sans TC"/>
                        </a:rPr>
                        <a:t>dual ⭐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~150 ms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Scribe 即時 + Google 批次確認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預設、最穩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scribe_rt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~150 ms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純 ElevenLabs Scribe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想最快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google_stream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~500 ms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Google streaming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對照組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sensevoice_local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~1 s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本機離線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機密、無網路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batch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~15 s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Google 批次（15 秒一段）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不在意即時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Monitor · 6 路即時辨識監看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3×2 grid 排列 · 每個 lane 內部左側上下分區 + 右側辨識文字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943600" cy="429768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>
                <a:solidFill>
                  <a:srgbClr val="6A7180"/>
                </a:solidFill>
                <a:latin typeface="Menlo"/>
              </a:rPr>
              <a:t>┌──────────────────┬──────────────────────────┐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E6E9EF"/>
                </a:solidFill>
                <a:latin typeface="Menlo"/>
              </a:rPr>
              <a:t>│ ch1  CC          │ 10:23 列車進入月台         │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E6E9EF"/>
                </a:solidFill>
                <a:latin typeface="Menlo"/>
              </a:rPr>
              <a:t>│ 控制長           │ 10:24 OCC 收到 …          │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F37777"/>
                </a:solidFill>
                <a:latin typeface="Menlo"/>
              </a:rPr>
              <a:t>│ scribe_rt+google │ 10:24 ⚠️ 月台門故障        │</a:t>
            </a: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6A7180"/>
                </a:solidFill>
                <a:latin typeface="Menlo"/>
              </a:rPr>
              <a:t>│ ──────────────── │ 10:25 確認 G05 已隔離     │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E6E9EF"/>
                </a:solidFill>
                <a:latin typeface="Menlo"/>
              </a:rPr>
              <a:t>│ 筆數 184         │                          │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E6E9EF"/>
                </a:solidFill>
                <a:latin typeface="Menlo"/>
              </a:rPr>
              <a:t>│ 平均信心 89%     │                          │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E6E9EF"/>
                </a:solidFill>
                <a:latin typeface="Menlo"/>
              </a:rPr>
              <a:t>│ 時長 31:08       │                          │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9AA3B3"/>
                </a:solidFill>
                <a:latin typeface="Menlo"/>
              </a:rPr>
              <a:t>│ 無錯字回報       │                          │</a:t>
            </a: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6A7180"/>
                </a:solidFill>
                <a:latin typeface="Menlo"/>
              </a:rPr>
              <a:t>└──────────────────┴──────────────────────────┘</a:t>
            </a:r>
          </a:p>
          <a:p>
            <a:pPr>
              <a:lnSpc>
                <a:spcPct val="105000"/>
              </a:lnSpc>
            </a:pPr>
            <a:r>
              <a:rPr sz="1100" b="0">
                <a:solidFill>
                  <a:srgbClr val="6A7180"/>
                </a:solidFill>
                <a:latin typeface="Menlo"/>
              </a:rPr>
              <a:t>    左側 180px              右側 1fr（主區）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37360"/>
            <a:ext cx="4846320" cy="429768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💰 頂部 status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2860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9EF"/>
                </a:solidFill>
                <a:latin typeface="Noto Sans TC"/>
              </a:rPr>
              <a:t>今日 NT$ 87.42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7432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9EF"/>
                </a:solidFill>
                <a:latin typeface="Noto Sans TC"/>
              </a:rPr>
              <a:t>session NT$ 12.18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004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9EF"/>
                </a:solidFill>
                <a:latin typeface="Noto Sans TC"/>
              </a:rPr>
              <a:t>預算 68% / NT$ 130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6576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9EF"/>
                </a:solidFill>
                <a:latin typeface="Noto Sans TC"/>
              </a:rPr>
              <a:t>5/6 席位活動中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1148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9EF"/>
                </a:solidFill>
                <a:latin typeface="Noto Sans T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5720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9EF"/>
                </a:solidFill>
                <a:latin typeface="Noto Sans TC"/>
              </a:rPr>
              <a:t>▼ 展開可看每席 × 引擎細項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→ Mockup 對應頁：testui-aispeech.netlify.app/monitor.html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Display · 控制室大螢幕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5 公尺外可讀 · 關鍵字依告警等級放大變色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690872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等級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視覺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範例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DC47E"/>
                          </a:solidFill>
                          <a:latin typeface="Noto Sans TC"/>
                        </a:rPr>
                        <a:t>L0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普通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列車進入月台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B85A"/>
                          </a:solidFill>
                          <a:latin typeface="Noto Sans TC"/>
                        </a:rPr>
                        <a:t>L1-L2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變色文字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請查證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B85A"/>
                          </a:solidFill>
                          <a:latin typeface="Noto Sans TC"/>
                        </a:rPr>
                        <a:t>L3-L4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放大 1.5× + 變色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月台門故障 / 緊急停車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37777"/>
                          </a:solidFill>
                          <a:latin typeface="Noto Sans TC"/>
                        </a:rPr>
                        <a:t>L5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放大 + 描邊 + 閃爍 banner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軌道異物 / 列車衝撞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→ Mockup 對應頁：testui-aispeech.netlify.app/display.html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FBDC7"/>
                </a:solidFill>
                <a:latin typeface="Noto Sans TC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E6E9EF"/>
                </a:solidFill>
                <a:latin typeface="Noto Sans TC"/>
              </a:rPr>
              <a:t>📁 語音檔案辨識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場景：拿一段錄音，要看辨識結果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Lab speech · 五步驟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上傳音檔 → 選引擎 → 跑辨識 → 看 raw vs 4 階段後處理結果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選模型類別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82880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google_stt / sensevoice / sensevoice_ft ⭐ / gemini / hybrid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選子模型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5176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chirp_3 / chirp_3_hans / gemini-2.5-pro 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上傳音檔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7472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拖拉 wav / mp3 / m4a / flac / ogg / aac（最多 50 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詞彙表設定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29768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啟用詞彙加權（三層架構：PhraseSet / term_filter / correction_dict）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2064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音訊前處理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12064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VAD 靜音過濾 / DeepFilterNet 降噪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→ 按「🚀 開始辨識」後顯示 raw + 4 階段後處理 + 信心度色塊 + ✏️ 修正按鈕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FBDC7"/>
                </a:solidFill>
                <a:latin typeface="Noto Sans TC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E6E9EF"/>
                </a:solidFill>
                <a:latin typeface="Noto Sans TC"/>
              </a:rPr>
              <a:t>📚 詞彙庫 + 告警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建立關鍵字 → 後處理修正 + 告警等級觸發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Lab vocabulary · 三大區塊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2015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6335" y="1920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6335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篩選列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6335" y="301752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搜尋術語
類別 dropdown
告警等級 dropdown
三條件交叉篩選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920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編輯表格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7" y="301752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Excel-like 即時編輯
term / category / boost
alert / pinyin
common_error /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3519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7839" y="1920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7839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新增表單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7839" y="301752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新增單筆詞條
必填：術語
選填：其他 6 欄
按 ✅ 新增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三層架構：term_filter.json（基底） + engines/{engine}.json（覆寫） + contextual_corrections.json（前後文）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告警等級對應表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alert_level 0~5 控制 display / monitor 兩種介面的視覺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4114800"/>
                <a:gridCol w="3319272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等級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意義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Display 視覺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AA3B3"/>
                          </a:solidFill>
                          <a:latin typeface="Noto Sans TC"/>
                        </a:rPr>
                        <a:t>Monitor 視覺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DC47E"/>
                          </a:solidFill>
                          <a:latin typeface="Noto Sans TC"/>
                        </a:rPr>
                        <a:t>L0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正常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普通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普通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B85A"/>
                          </a:solidFill>
                          <a:latin typeface="Noto Sans TC"/>
                        </a:rPr>
                        <a:t>L1-L2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注意 / 警示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變色文字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變色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2B85A"/>
                          </a:solidFill>
                          <a:latin typeface="Noto Sans TC"/>
                        </a:rPr>
                        <a:t>L3-L4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危險 / 緊急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放大 1.5× + 變色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背景變色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37777"/>
                          </a:solidFill>
                          <a:latin typeface="Noto Sans TC"/>
                        </a:rPr>
                        <a:t>L5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災難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放大 + 描邊 + 閃爍 banner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E9EF"/>
                          </a:solidFill>
                          <a:latin typeface="Noto Sans TC"/>
                        </a:rPr>
                        <a:t>背景變紅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告警散在三處：display.html 視覺 / monitor.html 背景 / Grafana 統計區塊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FBDC7"/>
                </a:solidFill>
                <a:latin typeface="Noto Sans TC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E6E9EF"/>
                </a:solidFill>
                <a:latin typeface="Noto Sans TC"/>
              </a:rPr>
              <a:t>📊 CER 評測 + 歷史查詢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量化辨識準確率 · 三種方式翻查歷史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Lab evaluation · CER 四步驟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Character Error Rate（字錯誤率）— 越低越準（0% 完美 / 100% 全錯）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選評測案例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3736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頂部 dropdown 挑 experiments/ 子目錄（或新建案例）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上傳音檔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拖到 source_audio/ 上傳區（.wav / .mp3 / .m4a）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4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上傳 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.txt 或 .csv 拖到 ground_truth/ 上傳區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3FB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0D12"/>
                </a:solidFill>
                <a:latin typeface="Noto Sans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690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9EF"/>
                </a:solidFill>
                <a:latin typeface="Noto Sans TC"/>
              </a:rPr>
              <a:t>上傳 ASR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069080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3"/>
                </a:solidFill>
                <a:latin typeface="Noto Sans TC"/>
              </a:rPr>
              <a:t>辨識結果拖到 asr_output/ → 按「開始評測」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DC7"/>
                </a:solidFill>
                <a:latin typeface="Noto Sans TC"/>
              </a:rPr>
              <a:t>CLI 版本（跑 6 引擎全批次）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9EF"/>
                </a:solidFill>
                <a:latin typeface="Menlo"/>
              </a:rPr>
              <a:t>python -m aispeech eval-batch
→ 結果存到 experiments/llm_correction_poc/cer_history.csv
→ python -m aispeech data sync-cer    # 同步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三種查詢歷史方式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2015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6335" y="1920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6335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Lab 全文搜尋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6335" y="301752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輸入字串
（疏散、月台門故障 …）
≥3 字 → FTS5 索引（快）
&lt;3 字 → LIKE（慢）
可設最多筆數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1920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🗂️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Lab 事件管理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7" y="301752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挑事件 → 看辨識結果
改危害等級 / 寫備注
修正 transcript 文字
修正會自動進飛輪
→ 下次更準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3519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7839" y="1920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E6E9EF"/>
                </a:solidFill>
                <a:latin typeface="Noto Sans TC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7839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DC7"/>
                </a:solidFill>
                <a:latin typeface="Noto Sans TC"/>
              </a:rPr>
              <a:t>Grafana 趨勢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7839" y="301752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Noto Sans TC"/>
              </a:rPr>
              <a:t>7 大區塊 · 25 panels
整體統計 / 量趨勢
各引擎成功率
危害分布 / Top 關鍵字
CER 趨勢圖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→ Mockup：lab.html#search / lab.html#management / grafana.html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FBDC7"/>
                </a:solidFill>
                <a:latin typeface="Noto Sans TC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E6E9EF"/>
                </a:solidFill>
                <a:latin typeface="Noto Sans TC"/>
              </a:rPr>
              <a:t>🎨 主題切換 + 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三種主題對應不同班別 · 跨頁設定持久化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三主題切換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右上 🌙 按鈕循環切換，記在瀏覽器 localStorage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3200400"/>
                <a:gridCol w="4233672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AA3B3"/>
                          </a:solidFill>
                          <a:latin typeface="Noto Sans TC"/>
                        </a:rPr>
                        <a:t>主題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AA3B3"/>
                          </a:solidFill>
                          <a:latin typeface="Noto Sans TC"/>
                        </a:rPr>
                        <a:t>按鈕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AA3B3"/>
                          </a:solidFill>
                          <a:latin typeface="Noto Sans TC"/>
                        </a:rPr>
                        <a:t>用途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AA3B3"/>
                          </a:solidFill>
                          <a:latin typeface="Noto Sans TC"/>
                        </a:rPr>
                        <a:t>色調</a:t>
                      </a:r>
                    </a:p>
                  </a:txBody>
                  <a:tcPr marL="109728" marR="109728" marT="54864" marB="54864">
                    <a:solidFill>
                      <a:srgbClr val="1A1D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6E9EF"/>
                          </a:solidFill>
                          <a:latin typeface="Noto Sans TC"/>
                        </a:rPr>
                        <a:t>dark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🌙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日班 / 預設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冷調 cool teal #3fbdc7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6E9EF"/>
                          </a:solidFill>
                          <a:latin typeface="Noto Sans TC"/>
                        </a:rPr>
                        <a:t>light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☀️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白班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純白底 + 深 teal</a:t>
                      </a:r>
                    </a:p>
                  </a:txBody>
                  <a:tcPr marL="109728" marR="109728" marT="73152" marB="73152">
                    <a:solidFill>
                      <a:srgbClr val="0B0D1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6E9EF"/>
                          </a:solidFill>
                          <a:latin typeface="Noto Sans TC"/>
                        </a:rPr>
                        <a:t>dark-warm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🔥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夜班低藍光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9EF"/>
                          </a:solidFill>
                          <a:latin typeface="Noto Sans TC"/>
                        </a:rPr>
                        <a:t>琥珀暖色 + warm cream</a:t>
                      </a:r>
                    </a:p>
                  </a:txBody>
                  <a:tcPr marL="109728" marR="109728" marT="73152" marB="73152">
                    <a:solidFill>
                      <a:srgbClr val="11141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FBDC7"/>
                </a:solidFill>
                <a:latin typeface="Menlo"/>
              </a:rPr>
              <a:t>循環順序：dark → light → dark-warm → dark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180"/>
                </a:solidFill>
                <a:latin typeface="Noto Sans TC"/>
              </a:rPr>
              <a:t>首次造訪會跟系統 prefers-color-scheme 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9EF"/>
                </a:solidFill>
                <a:latin typeface="Noto Sans TC"/>
              </a:rPr>
              <a:t>給新手的回饋格式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3B3"/>
                </a:solidFill>
                <a:latin typeface="Noto Sans TC"/>
              </a:rPr>
              <a:t>走完一輪後，請依此格式紀錄你發現的改善點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18320" cy="429768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696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3FBDC7"/>
                </a:solidFill>
                <a:latin typeface="Menlo"/>
              </a:rPr>
              <a:t>### 介面：{capture / monitor / display / Lab-哪一頁 / Grafana}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Menlo"/>
              </a:rPr>
              <a:t/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3FBDC7"/>
                </a:solidFill>
                <a:latin typeface="Menlo"/>
              </a:rPr>
              <a:t>### 我覺得不直覺的地方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Menlo"/>
              </a:rPr>
              <a:t>- 例：席位代號的 dropdown 文字太小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Menlo"/>
              </a:rPr>
              <a:t/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3FBDC7"/>
                </a:solidFill>
                <a:latin typeface="Menlo"/>
              </a:rPr>
              <a:t>### 我建議的改法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Menlo"/>
              </a:rPr>
              <a:t>- 例：放大字體並改成卡片式按鈕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Menlo"/>
              </a:rPr>
              <a:t/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3FBDC7"/>
                </a:solidFill>
                <a:latin typeface="Menlo"/>
              </a:rPr>
              <a:t>### 我為什麼這樣建議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Menlo"/>
              </a:rPr>
              <a:t>- 例：操作員會在低光環境下使用，dropdown 點選費神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Menlo"/>
              </a:rPr>
              <a:t/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3FBDC7"/>
                </a:solidFill>
                <a:latin typeface="Menlo"/>
              </a:rPr>
              <a:t>### 嚴重度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Menlo"/>
              </a:rPr>
              <a:t>- 高 / 中 / 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A7180"/>
                </a:solidFill>
                <a:latin typeface="Menlo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6304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E6E9EF"/>
                </a:solidFill>
                <a:latin typeface="Noto Sans TC"/>
              </a:rPr>
              <a:t>謝謝！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AA3B3"/>
                </a:solidFill>
                <a:latin typeface="Noto Sans TC"/>
              </a:rPr>
              <a:t>請開始嘗試介面，並把回饋整理出來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8167" y="402336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98167" y="42976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AA3B3"/>
                </a:solidFill>
                <a:latin typeface="Noto Sans TC"/>
              </a:rPr>
              <a:t>🌐 Mockup 公網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167" y="484632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FBDC7"/>
                </a:solidFill>
                <a:latin typeface="Menlo"/>
              </a:rPr>
              <a:t>testui-aispeech.netlify.app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167" y="5394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A3B3"/>
                </a:solidFill>
                <a:latin typeface="Noto Sans TC"/>
              </a:rPr>
              <a:t>8 頁可互點介面預覽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402336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11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42976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AA3B3"/>
                </a:solidFill>
                <a:latin typeface="Noto Sans TC"/>
              </a:rPr>
              <a:t>📖 完整新手手冊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484632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FBDC7"/>
                </a:solidFill>
                <a:latin typeface="Menlo"/>
              </a:rPr>
              <a:t>docs/操作手冊-新手版.md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5394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A3B3"/>
                </a:solidFill>
                <a:latin typeface="Menlo"/>
              </a:rPr>
              <a:t>github.com/datadigshawn/aiSpeechMulti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